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8" r:id="rId3"/>
    <p:sldId id="268" r:id="rId4"/>
    <p:sldId id="270" r:id="rId5"/>
    <p:sldId id="271" r:id="rId6"/>
    <p:sldId id="287" r:id="rId7"/>
    <p:sldId id="269" r:id="rId8"/>
    <p:sldId id="272" r:id="rId9"/>
    <p:sldId id="273" r:id="rId10"/>
    <p:sldId id="288" r:id="rId11"/>
    <p:sldId id="274" r:id="rId12"/>
    <p:sldId id="275" r:id="rId13"/>
    <p:sldId id="276" r:id="rId14"/>
    <p:sldId id="286" r:id="rId15"/>
    <p:sldId id="265" r:id="rId16"/>
    <p:sldId id="277" r:id="rId17"/>
    <p:sldId id="279" r:id="rId18"/>
    <p:sldId id="278" r:id="rId19"/>
    <p:sldId id="285" r:id="rId20"/>
    <p:sldId id="283" r:id="rId21"/>
    <p:sldId id="280" r:id="rId22"/>
    <p:sldId id="284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8A154-C662-3E3E-F6BE-FF672EC7C53F}" v="1113" dt="2022-07-06T06:33:05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67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59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31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4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65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09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73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94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92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95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575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6273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747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785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601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6112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49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1FD8A7-7548-4040-A874-AC28D9479C1A}" type="datetimeFigureOut">
              <a:rPr lang="de-DE" smtClean="0"/>
              <a:t>08.07.2022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1EB28-CC92-4FFE-9B0E-67B633EBF8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76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F6418-D85E-4311-ACC8-3A97B06D86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IoTürschilder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5CAF3D-E824-40BD-814B-86B3D98DD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Abschluss-Präsentation vom 06.07.22</a:t>
            </a:r>
          </a:p>
        </p:txBody>
      </p:sp>
    </p:spTree>
    <p:extLst>
      <p:ext uri="{BB962C8B-B14F-4D97-AF65-F5344CB8AC3E}">
        <p14:creationId xmlns:p14="http://schemas.microsoft.com/office/powerpoint/2010/main" val="245537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23C2D-E99B-58EA-A9A9-3F652FF5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63EA71-D5C6-F1D0-E714-BA149724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endParaRPr lang="de-DE" sz="1800" dirty="0"/>
          </a:p>
          <a:p>
            <a:r>
              <a:rPr lang="de-DE" sz="1800" dirty="0"/>
              <a:t>Plan</a:t>
            </a:r>
          </a:p>
          <a:p>
            <a:r>
              <a:rPr lang="de-DE" sz="1800" dirty="0"/>
              <a:t>Ergebnis</a:t>
            </a:r>
          </a:p>
          <a:p>
            <a:r>
              <a:rPr lang="de-DE" sz="1800" dirty="0"/>
              <a:t>Gegenüberstellung</a:t>
            </a:r>
          </a:p>
          <a:p>
            <a:r>
              <a:rPr lang="de-DE" sz="1800" dirty="0"/>
              <a:t>Umsetzung</a:t>
            </a:r>
          </a:p>
          <a:p>
            <a:r>
              <a:rPr lang="de-DE" sz="1800" dirty="0"/>
              <a:t>Lösungsstrategien und Änderungen am Prozess</a:t>
            </a:r>
          </a:p>
          <a:p>
            <a:r>
              <a:rPr lang="de-DE" sz="1800" dirty="0" err="1"/>
              <a:t>Lessons</a:t>
            </a:r>
            <a:r>
              <a:rPr lang="de-DE" sz="1800" dirty="0"/>
              <a:t> </a:t>
            </a:r>
            <a:r>
              <a:rPr lang="de-DE" sz="1800" dirty="0" err="1"/>
              <a:t>learned</a:t>
            </a:r>
            <a:r>
              <a:rPr lang="de-DE" sz="1800" dirty="0"/>
              <a:t> </a:t>
            </a:r>
          </a:p>
          <a:p>
            <a:pPr marL="0" indent="0">
              <a:buNone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61704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12F37-1B93-C79C-0AAF-DB116896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Plan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70AC6-21DA-6090-58AE-6A606C842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System soll mindestens eine Raumbuchung anzeigen</a:t>
            </a:r>
          </a:p>
          <a:p>
            <a:r>
              <a:rPr lang="de-DE" dirty="0"/>
              <a:t>Das System soll den Raumnamen anzeigen</a:t>
            </a:r>
          </a:p>
          <a:p>
            <a:r>
              <a:rPr lang="de-DE" dirty="0"/>
              <a:t>Das System soll das aktuelle Datum anzeigen</a:t>
            </a:r>
          </a:p>
          <a:p>
            <a:r>
              <a:rPr lang="de-DE" dirty="0"/>
              <a:t>Das System soll Buchungsinformationen von der IT-Infrastruktur abrufen</a:t>
            </a:r>
          </a:p>
          <a:p>
            <a:r>
              <a:rPr lang="de-DE" dirty="0"/>
              <a:t>Das System soll sich alle 15 Minuten aktualisieren</a:t>
            </a:r>
          </a:p>
          <a:p>
            <a:r>
              <a:rPr lang="de-DE" dirty="0"/>
              <a:t>Das System soll eine Schnittstelle bieten um </a:t>
            </a:r>
            <a:r>
              <a:rPr lang="de-DE" dirty="0" err="1"/>
              <a:t>Geraeteparameter</a:t>
            </a:r>
            <a:r>
              <a:rPr lang="de-DE" dirty="0"/>
              <a:t> einzustellen</a:t>
            </a:r>
          </a:p>
          <a:p>
            <a:r>
              <a:rPr lang="de-DE" dirty="0"/>
              <a:t>Das System soll bei einem Fehler diesen spezifisch ausgeben</a:t>
            </a:r>
          </a:p>
        </p:txBody>
      </p:sp>
    </p:spTree>
    <p:extLst>
      <p:ext uri="{BB962C8B-B14F-4D97-AF65-F5344CB8AC3E}">
        <p14:creationId xmlns:p14="http://schemas.microsoft.com/office/powerpoint/2010/main" val="322512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DACE8-2125-B6D8-1044-D3F818EB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9659B-6C28-2A14-7245-5251E6C1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0008"/>
            <a:ext cx="8946541" cy="4678391"/>
          </a:xfrm>
        </p:spPr>
        <p:txBody>
          <a:bodyPr>
            <a:normAutofit/>
          </a:bodyPr>
          <a:lstStyle/>
          <a:p>
            <a:r>
              <a:rPr lang="de-DE" dirty="0"/>
              <a:t>Der Administrator soll das System in Werkseinstellung zurücksetzen können</a:t>
            </a:r>
          </a:p>
          <a:p>
            <a:r>
              <a:rPr lang="de-DE" dirty="0"/>
              <a:t>Die Uhrzeit der letzten Aktualisierung anzeigen</a:t>
            </a:r>
          </a:p>
          <a:p>
            <a:r>
              <a:rPr lang="de-DE" dirty="0"/>
              <a:t>Lesbarkeit / gute Lichtverhältnisse sicherstellen</a:t>
            </a:r>
          </a:p>
          <a:p>
            <a:r>
              <a:rPr lang="de-DE" dirty="0"/>
              <a:t>Sicherheit der Daten / Verschlüsselung</a:t>
            </a:r>
          </a:p>
          <a:p>
            <a:r>
              <a:rPr lang="de-DE" dirty="0"/>
              <a:t>Der Werkseinstellung-Knopf soll nur mit geöffnetem Gehäuse erreichbar sein</a:t>
            </a:r>
          </a:p>
          <a:p>
            <a:r>
              <a:rPr lang="de-DE" dirty="0"/>
              <a:t>Geräteparameter sollen persistent gespeichert werden </a:t>
            </a:r>
          </a:p>
          <a:p>
            <a:r>
              <a:rPr lang="de-DE" dirty="0"/>
              <a:t>Das System benötigt ein groß dimensioniertes Display für die Ablesbarkeit der Informationen</a:t>
            </a:r>
          </a:p>
          <a:p>
            <a:r>
              <a:rPr lang="de-DE" dirty="0"/>
              <a:t>Das System benötigt ein MQTT-Broker als Schnittstelle für das Backend und dem System</a:t>
            </a:r>
          </a:p>
        </p:txBody>
      </p:sp>
    </p:spTree>
    <p:extLst>
      <p:ext uri="{BB962C8B-B14F-4D97-AF65-F5344CB8AC3E}">
        <p14:creationId xmlns:p14="http://schemas.microsoft.com/office/powerpoint/2010/main" val="63372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93C59-34B1-4599-189A-382FFEF4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7A7E19C-8415-BA67-5CF9-4988E59DCA54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de-DE" dirty="0"/>
          </a:p>
        </p:txBody>
      </p:sp>
      <p:pic>
        <p:nvPicPr>
          <p:cNvPr id="5" name="Grafik 4" descr="Ein Bild, das Text, Vogel, Pflanze enthält.&#10;&#10;Automatisch generierte Beschreibung">
            <a:extLst>
              <a:ext uri="{FF2B5EF4-FFF2-40B4-BE49-F238E27FC236}">
                <a16:creationId xmlns:a16="http://schemas.microsoft.com/office/drawing/2014/main" id="{288E815A-E7A7-6EDE-CB4B-6B7AF8375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017" y="3988036"/>
            <a:ext cx="3320983" cy="1992589"/>
          </a:xfrm>
          <a:prstGeom prst="rect">
            <a:avLst/>
          </a:prstGeom>
        </p:spPr>
      </p:pic>
      <p:pic>
        <p:nvPicPr>
          <p:cNvPr id="6" name="Grafik 5" descr="Ein Bild, das Tisch enthält.&#10;&#10;Automatisch generierte Beschreibung">
            <a:extLst>
              <a:ext uri="{FF2B5EF4-FFF2-40B4-BE49-F238E27FC236}">
                <a16:creationId xmlns:a16="http://schemas.microsoft.com/office/drawing/2014/main" id="{D3B70DBF-C94A-2571-84AB-87D44E498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694" y="1700089"/>
            <a:ext cx="3320983" cy="1992589"/>
          </a:xfrm>
          <a:prstGeom prst="rect">
            <a:avLst/>
          </a:prstGeom>
        </p:spPr>
      </p:pic>
      <p:pic>
        <p:nvPicPr>
          <p:cNvPr id="7" name="Grafik 6" descr="Ein Bild, das Tisch enthält.&#10;&#10;Automatisch generierte Beschreibung">
            <a:extLst>
              <a:ext uri="{FF2B5EF4-FFF2-40B4-BE49-F238E27FC236}">
                <a16:creationId xmlns:a16="http://schemas.microsoft.com/office/drawing/2014/main" id="{67FB2261-A14B-02EC-A39A-27AAFE1CA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20" y="1744371"/>
            <a:ext cx="3247179" cy="1948307"/>
          </a:xfrm>
          <a:prstGeom prst="rect">
            <a:avLst/>
          </a:prstGeom>
        </p:spPr>
      </p:pic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4DEBBCF3-BD53-064C-F777-809417F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814" y="4032318"/>
            <a:ext cx="3247180" cy="1948307"/>
          </a:xfrm>
          <a:prstGeom prst="rect">
            <a:avLst/>
          </a:prstGeom>
        </p:spPr>
      </p:pic>
      <p:pic>
        <p:nvPicPr>
          <p:cNvPr id="9" name="Grafik 8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2DE881A-EEC7-1CAC-E5D8-CFC87F7F1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107" y="1744372"/>
            <a:ext cx="3247179" cy="19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5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3CD0A11-5A12-3679-95B4-254BB216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CBFA5B-11E6-3853-89BC-AA7AEB773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152983"/>
            <a:ext cx="10637767" cy="526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3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B8F2D-9D07-FB18-9E6D-C3E99ED8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Ergebnis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1D93E4-D317-6FCF-8EF4-89570177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System kann das aktuelle Meeting und 4 nachfolgende Termine anzeigen</a:t>
            </a:r>
          </a:p>
          <a:p>
            <a:r>
              <a:rPr lang="de-DE" dirty="0"/>
              <a:t>Das System zeigt den Raumnamen an</a:t>
            </a:r>
          </a:p>
          <a:p>
            <a:r>
              <a:rPr lang="de-DE" dirty="0"/>
              <a:t>Das System gibt „Frei“ aus, wenn aktuell kein Meeting stattfindet</a:t>
            </a:r>
          </a:p>
          <a:p>
            <a:r>
              <a:rPr lang="de-DE" dirty="0"/>
              <a:t>Das System zeigt das aktuelle Datum an</a:t>
            </a:r>
          </a:p>
          <a:p>
            <a:r>
              <a:rPr lang="de-DE" dirty="0"/>
              <a:t>Das System bekommt Buchungsinformationen über MQTT vom serverseitigen Backend.</a:t>
            </a:r>
          </a:p>
          <a:p>
            <a:r>
              <a:rPr lang="de-DE" dirty="0"/>
              <a:t>Das System schläft für 15 Minuten und erhält dann das aktuellste Paket vom Broker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88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B8F2D-9D07-FB18-9E6D-C3E99ED8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Ergebnis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1D93E4-D317-6FCF-8EF4-89570177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System lässt sich über </a:t>
            </a:r>
            <a:r>
              <a:rPr lang="de-DE" dirty="0" err="1"/>
              <a:t>Adhoc</a:t>
            </a:r>
            <a:r>
              <a:rPr lang="de-DE" dirty="0"/>
              <a:t> (WLAN) per HTTP einrichten</a:t>
            </a:r>
          </a:p>
          <a:p>
            <a:r>
              <a:rPr lang="de-DE" dirty="0"/>
              <a:t>Das System kann man mit einem </a:t>
            </a:r>
            <a:r>
              <a:rPr lang="de-DE" dirty="0" err="1"/>
              <a:t>Reset</a:t>
            </a:r>
            <a:r>
              <a:rPr lang="de-DE" dirty="0"/>
              <a:t>-Button zurücksetzen</a:t>
            </a:r>
          </a:p>
          <a:p>
            <a:r>
              <a:rPr lang="de-DE" dirty="0"/>
              <a:t>Das System kann das Datum der letzten Aktualisierung anzeigen</a:t>
            </a:r>
          </a:p>
          <a:p>
            <a:r>
              <a:rPr lang="de-DE" dirty="0"/>
              <a:t>Das Gerät kann Geräteparameter persistent speichern</a:t>
            </a:r>
          </a:p>
          <a:p>
            <a:r>
              <a:rPr lang="de-DE" dirty="0"/>
              <a:t>Das System besitzt ein 7,5“-Display und ist somit gut lesbar</a:t>
            </a:r>
          </a:p>
          <a:p>
            <a:r>
              <a:rPr lang="de-DE" dirty="0"/>
              <a:t>einen MQTT-Broker kann im Netzwerk eingerichtet werden</a:t>
            </a:r>
          </a:p>
          <a:p>
            <a:r>
              <a:rPr lang="de-DE" dirty="0"/>
              <a:t>Es wurde ein Gehäuse designt um es an der Wand zu befestigen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606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4E91D-C822-48C0-3109-D7DBEDDE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</a:t>
            </a:r>
          </a:p>
        </p:txBody>
      </p:sp>
      <p:pic>
        <p:nvPicPr>
          <p:cNvPr id="5" name="Grafik 4" descr="Ein Bild, das Text, Whiteboard enthält.&#10;&#10;Automatisch generierte Beschreibung">
            <a:extLst>
              <a:ext uri="{FF2B5EF4-FFF2-40B4-BE49-F238E27FC236}">
                <a16:creationId xmlns:a16="http://schemas.microsoft.com/office/drawing/2014/main" id="{2F2A0046-D758-D2A3-0B57-5505BAA6E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17751" y="1083534"/>
            <a:ext cx="2822399" cy="50200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43BB0BC-930B-15DE-DDC1-7C634DB41358}"/>
              </a:ext>
            </a:extLst>
          </p:cNvPr>
          <p:cNvSpPr txBox="1"/>
          <p:nvPr/>
        </p:nvSpPr>
        <p:spPr>
          <a:xfrm>
            <a:off x="1977886" y="5137039"/>
            <a:ext cx="466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Displayanzeige</a:t>
            </a:r>
          </a:p>
        </p:txBody>
      </p:sp>
      <p:pic>
        <p:nvPicPr>
          <p:cNvPr id="8" name="Grafik 7" descr="Ein Bild, das Text, drinnen, Computer, Tastatur enthält.&#10;&#10;Automatisch generierte Beschreibung">
            <a:extLst>
              <a:ext uri="{FF2B5EF4-FFF2-40B4-BE49-F238E27FC236}">
                <a16:creationId xmlns:a16="http://schemas.microsoft.com/office/drawing/2014/main" id="{F3D03139-17C4-C22F-E351-90B275B1D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483" y="326683"/>
            <a:ext cx="3663351" cy="274751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6679064-6737-AF8B-A6AA-F1512E00F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409" y="3593554"/>
            <a:ext cx="3283226" cy="246242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7BC8D19-F76E-7116-5CFB-74214736A194}"/>
              </a:ext>
            </a:extLst>
          </p:cNvPr>
          <p:cNvSpPr txBox="1"/>
          <p:nvPr/>
        </p:nvSpPr>
        <p:spPr>
          <a:xfrm>
            <a:off x="7280256" y="3074196"/>
            <a:ext cx="466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Gehäuse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8AF039-4E36-46AB-B125-1B80760C564C}"/>
              </a:ext>
            </a:extLst>
          </p:cNvPr>
          <p:cNvSpPr txBox="1"/>
          <p:nvPr/>
        </p:nvSpPr>
        <p:spPr>
          <a:xfrm>
            <a:off x="8219158" y="6055974"/>
            <a:ext cx="466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Im Gehäuse</a:t>
            </a:r>
          </a:p>
        </p:txBody>
      </p:sp>
    </p:spTree>
    <p:extLst>
      <p:ext uri="{BB962C8B-B14F-4D97-AF65-F5344CB8AC3E}">
        <p14:creationId xmlns:p14="http://schemas.microsoft.com/office/powerpoint/2010/main" val="114682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B691F-7A21-59F0-16EE-FE279073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noch offen?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40ECE91-D14B-AF8D-046A-68F492778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1398508"/>
            <a:ext cx="6950042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4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61B0E-D721-8955-FF5B-E58D1528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6789"/>
          </a:xfrm>
        </p:spPr>
        <p:txBody>
          <a:bodyPr/>
          <a:lstStyle/>
          <a:p>
            <a:r>
              <a:rPr lang="de-DE" dirty="0"/>
              <a:t>Gegenüberstellung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0BD821-BF83-8CA2-C65B-62A17443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Alle </a:t>
            </a:r>
            <a:r>
              <a:rPr lang="de-DE" i="1" u="sng" dirty="0"/>
              <a:t>primären</a:t>
            </a:r>
            <a:r>
              <a:rPr lang="de-DE" dirty="0"/>
              <a:t> Anforderungen wurden erfüllt</a:t>
            </a:r>
          </a:p>
          <a:p>
            <a:r>
              <a:rPr lang="de-DE" dirty="0"/>
              <a:t>Einige </a:t>
            </a:r>
            <a:r>
              <a:rPr lang="de-DE" i="1" u="sng" dirty="0"/>
              <a:t>optionale</a:t>
            </a:r>
            <a:r>
              <a:rPr lang="de-DE" dirty="0"/>
              <a:t> Anforderungen wurden nicht erfüllt</a:t>
            </a:r>
          </a:p>
          <a:p>
            <a:pPr lvl="1"/>
            <a:r>
              <a:rPr lang="de-DE" dirty="0"/>
              <a:t>Das System kann keine spezifischen Fehler anzeigen</a:t>
            </a:r>
          </a:p>
          <a:p>
            <a:pPr lvl="1"/>
            <a:r>
              <a:rPr lang="de-DE" dirty="0"/>
              <a:t>Lesbarkeit bei schlechten Lichtverhältnisse</a:t>
            </a:r>
          </a:p>
          <a:p>
            <a:pPr lvl="1"/>
            <a:r>
              <a:rPr lang="de-DE" dirty="0"/>
              <a:t>Sicherheit der Daten / Verschlüsselung</a:t>
            </a:r>
          </a:p>
          <a:p>
            <a:pPr lvl="1"/>
            <a:r>
              <a:rPr lang="de-DE" dirty="0"/>
              <a:t>Batterie/WLAN-Anzeige</a:t>
            </a:r>
          </a:p>
          <a:p>
            <a:pPr lvl="1"/>
            <a:r>
              <a:rPr lang="de-DE" dirty="0"/>
              <a:t>Initialisierungsanzeige / Geräteparameter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455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E79A87-A5C1-9DF6-69B3-1DF39317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dirty="0"/>
              <a:t>Herangehensweise/Umsetzung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790AB8-DBF5-9B46-EDDA-93A8824CF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System wurde in 2 Teilen aufgeteilt. </a:t>
            </a:r>
          </a:p>
          <a:p>
            <a:pPr lvl="1"/>
            <a:r>
              <a:rPr lang="de-DE" dirty="0"/>
              <a:t>Serverseitiges Backend</a:t>
            </a:r>
          </a:p>
          <a:p>
            <a:pPr lvl="1"/>
            <a:r>
              <a:rPr lang="de-DE" dirty="0"/>
              <a:t>Türschildanzeige</a:t>
            </a:r>
          </a:p>
          <a:p>
            <a:r>
              <a:rPr lang="de-DE" dirty="0"/>
              <a:t>Kommunikation über MQTT</a:t>
            </a:r>
          </a:p>
          <a:p>
            <a:pPr lvl="1"/>
            <a:r>
              <a:rPr lang="de-DE" dirty="0"/>
              <a:t>Broker kann entweder auf Docker oder einer Linux-Distribution installiert werden</a:t>
            </a:r>
          </a:p>
          <a:p>
            <a:pPr lvl="1"/>
            <a:r>
              <a:rPr lang="de-DE" dirty="0"/>
              <a:t>Datentransport über WLAN mit TCP/IP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159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CD4CE-66C1-785F-973E-69A58464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Herangehensweise und Umsetzung des serverseitigen </a:t>
            </a:r>
            <a:r>
              <a:rPr lang="de-DE" dirty="0" err="1"/>
              <a:t>Backends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5C17DB-291D-9DBF-53F0-D68D1DBBB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Backend wurde in Java programmiert. </a:t>
            </a:r>
          </a:p>
          <a:p>
            <a:r>
              <a:rPr lang="de-DE" dirty="0"/>
              <a:t>Es enthält 2 Threads die nebenläufig arbeiten</a:t>
            </a:r>
          </a:p>
          <a:p>
            <a:pPr lvl="1"/>
            <a:r>
              <a:rPr lang="de-DE" dirty="0"/>
              <a:t>Das Menü lässt den Nutzer Räume erstellen, auf die das Backend reagieren soll, wenn es Meeting-Einträge gibt. Zudem lassen sich auch die Räume wieder löschen und anzeigen.</a:t>
            </a:r>
          </a:p>
          <a:p>
            <a:pPr lvl="1"/>
            <a:r>
              <a:rPr lang="de-DE" dirty="0"/>
              <a:t>Die </a:t>
            </a:r>
            <a:r>
              <a:rPr lang="de-DE" dirty="0" err="1"/>
              <a:t>CalendarAPI</a:t>
            </a:r>
            <a:r>
              <a:rPr lang="de-DE" dirty="0"/>
              <a:t> authentifiziert sich mit der der </a:t>
            </a:r>
            <a:r>
              <a:rPr lang="de-DE" dirty="0" err="1"/>
              <a:t>GoogleAPI</a:t>
            </a:r>
            <a:r>
              <a:rPr lang="de-DE" dirty="0"/>
              <a:t> und erhält darüber Zugriff auf den Google Kalender. </a:t>
            </a:r>
          </a:p>
          <a:p>
            <a:r>
              <a:rPr lang="de-DE" dirty="0"/>
              <a:t>Der Publisher publisht die im </a:t>
            </a:r>
            <a:r>
              <a:rPr lang="de-DE" dirty="0" err="1"/>
              <a:t>CalendarAPI</a:t>
            </a:r>
            <a:r>
              <a:rPr lang="de-DE" dirty="0"/>
              <a:t> generierte Nachricht an den Broker</a:t>
            </a:r>
          </a:p>
          <a:p>
            <a:r>
              <a:rPr lang="de-DE" dirty="0"/>
              <a:t>Die Nachricht ist immer identisch aufgebaut, auch wenn das Key-Value-Paar eine Information beinhaltet.</a:t>
            </a:r>
          </a:p>
        </p:txBody>
      </p:sp>
    </p:spTree>
    <p:extLst>
      <p:ext uri="{BB962C8B-B14F-4D97-AF65-F5344CB8AC3E}">
        <p14:creationId xmlns:p14="http://schemas.microsoft.com/office/powerpoint/2010/main" val="3880992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3B46D-55E3-DC00-2E26-0C341AD1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des serverseitigen </a:t>
            </a:r>
            <a:r>
              <a:rPr lang="de-DE" dirty="0" err="1"/>
              <a:t>Backends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A3BB7D-3DC1-DB5D-6A83-29EE67AC3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Objektorientierte Programmierung</a:t>
            </a:r>
          </a:p>
          <a:p>
            <a:pPr lvl="1"/>
            <a:r>
              <a:rPr lang="de-DE" dirty="0"/>
              <a:t>Raum, Nachricht, </a:t>
            </a:r>
            <a:r>
              <a:rPr lang="de-DE" dirty="0" err="1"/>
              <a:t>MQTTNachricht</a:t>
            </a:r>
            <a:endParaRPr lang="de-DE" dirty="0"/>
          </a:p>
          <a:p>
            <a:r>
              <a:rPr lang="de-DE" dirty="0"/>
              <a:t>Überwiegend enge Kopplung der Komponenten</a:t>
            </a:r>
          </a:p>
          <a:p>
            <a:r>
              <a:rPr lang="de-DE" dirty="0" err="1"/>
              <a:t>CalendarAPI</a:t>
            </a:r>
            <a:r>
              <a:rPr lang="de-DE" dirty="0"/>
              <a:t> kann durch beliebige API ersetzt werden</a:t>
            </a:r>
          </a:p>
          <a:p>
            <a:pPr lvl="1"/>
            <a:r>
              <a:rPr lang="de-DE" dirty="0"/>
              <a:t>API greift nur auf Methoden von Publisher zu. Die Publisher-Methoden müssen bekannt sein.</a:t>
            </a:r>
          </a:p>
          <a:p>
            <a:r>
              <a:rPr lang="de-DE" dirty="0"/>
              <a:t>Nebenläufige Threads</a:t>
            </a:r>
          </a:p>
          <a:p>
            <a:pPr lvl="1"/>
            <a:r>
              <a:rPr lang="de-DE" dirty="0"/>
              <a:t>Damit das Programm nicht blockiert, wenn sowohl </a:t>
            </a:r>
            <a:r>
              <a:rPr lang="de-DE" dirty="0" err="1"/>
              <a:t>CalendarAPI</a:t>
            </a:r>
            <a:r>
              <a:rPr lang="de-DE" dirty="0"/>
              <a:t> als auch Menü gleichzeitig läuft, habe ich beide in nebenläufige Threads ausgelagert</a:t>
            </a:r>
          </a:p>
          <a:p>
            <a:r>
              <a:rPr lang="de-DE" dirty="0"/>
              <a:t>Datenbank-Modell für das Objekt „Raum“</a:t>
            </a:r>
          </a:p>
          <a:p>
            <a:pPr lvl="1"/>
            <a:r>
              <a:rPr lang="de-DE" dirty="0" err="1"/>
              <a:t>SQLlite</a:t>
            </a:r>
            <a:r>
              <a:rPr lang="de-DE" dirty="0"/>
              <a:t>-Datenbank wird direkt im Programm erstellt und Räume können über das Menü erstellt, angezeigt und gelöscht werden.</a:t>
            </a:r>
          </a:p>
        </p:txBody>
      </p:sp>
    </p:spTree>
    <p:extLst>
      <p:ext uri="{BB962C8B-B14F-4D97-AF65-F5344CB8AC3E}">
        <p14:creationId xmlns:p14="http://schemas.microsoft.com/office/powerpoint/2010/main" val="107844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D725A-7BAB-9445-F5F7-1F54C1D1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dirty="0"/>
              <a:t>Lösungsstrategien und Änderungen am Prozess des </a:t>
            </a:r>
            <a:r>
              <a:rPr lang="de-DE" sz="4000" dirty="0" err="1"/>
              <a:t>Backends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95088-C950-79EB-764B-7B707C863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Um überhaupt Nachrichten auf ein Topic zu publishen, muss ein Raum in der Datenbank existieren.</a:t>
            </a:r>
          </a:p>
          <a:p>
            <a:pPr lvl="1"/>
            <a:r>
              <a:rPr lang="de-DE" dirty="0"/>
              <a:t>Das spart unnötigen Traffic</a:t>
            </a:r>
          </a:p>
          <a:p>
            <a:pPr lvl="1"/>
            <a:r>
              <a:rPr lang="de-DE" dirty="0"/>
              <a:t>Falsche Einträge im Google Kalender werden erst gar nicht gepublisht</a:t>
            </a:r>
          </a:p>
          <a:p>
            <a:r>
              <a:rPr lang="de-DE" dirty="0"/>
              <a:t>Die Authentifizierung findet über </a:t>
            </a:r>
            <a:r>
              <a:rPr lang="de-DE" dirty="0" err="1"/>
              <a:t>Oauth</a:t>
            </a:r>
            <a:r>
              <a:rPr lang="de-DE" dirty="0"/>
              <a:t> von Google statt.</a:t>
            </a:r>
          </a:p>
          <a:p>
            <a:r>
              <a:rPr lang="de-DE" dirty="0"/>
              <a:t>In der </a:t>
            </a:r>
            <a:r>
              <a:rPr lang="de-DE" dirty="0" err="1"/>
              <a:t>CalendarAPI</a:t>
            </a:r>
            <a:r>
              <a:rPr lang="de-DE" dirty="0"/>
              <a:t> wird die Anzahl an Meetings kontrolliert und anhand dessen eine Funktion aufgerufen</a:t>
            </a:r>
          </a:p>
          <a:p>
            <a:r>
              <a:rPr lang="de-DE" dirty="0"/>
              <a:t>Für die Räume wird eine </a:t>
            </a:r>
            <a:r>
              <a:rPr lang="de-DE" dirty="0" err="1"/>
              <a:t>SQLlite</a:t>
            </a:r>
            <a:r>
              <a:rPr lang="de-DE" dirty="0"/>
              <a:t> Datenbank verwendet, die lokal auf dem System erstellt wird.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102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C3F78-430F-9ADF-B9B5-4BA2B2B9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Herangehensweise und Umsetzung des Türschildes Hardware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CBC017-2F12-92F4-D7BE-2D5D60ECA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Verwendung des ESP32</a:t>
            </a:r>
          </a:p>
          <a:p>
            <a:r>
              <a:rPr lang="de-DE" dirty="0"/>
              <a:t>Batteriebetrieben</a:t>
            </a:r>
          </a:p>
          <a:p>
            <a:r>
              <a:rPr lang="de-DE" dirty="0" err="1"/>
              <a:t>Aufladeregler</a:t>
            </a:r>
            <a:endParaRPr lang="de-DE" dirty="0"/>
          </a:p>
          <a:p>
            <a:r>
              <a:rPr lang="de-DE" dirty="0"/>
              <a:t>Buck-Boost-Converter</a:t>
            </a:r>
          </a:p>
          <a:p>
            <a:r>
              <a:rPr lang="de-DE" dirty="0"/>
              <a:t>E-Paper Driver HAT</a:t>
            </a:r>
          </a:p>
          <a:p>
            <a:r>
              <a:rPr lang="de-DE" dirty="0"/>
              <a:t>E-</a:t>
            </a:r>
            <a:r>
              <a:rPr lang="de-DE" dirty="0" err="1"/>
              <a:t>Ink</a:t>
            </a:r>
            <a:r>
              <a:rPr lang="de-DE" dirty="0"/>
              <a:t> Display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317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561AD-D82F-B131-FDCA-99F92C0E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Herangehensweise und Umsetzung des Türschildes Software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DE6EFA-44E0-0294-515F-2AE4F1B3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Konfigurationsschnittstelle über HTTP-Server und HTML-Forms</a:t>
            </a:r>
          </a:p>
          <a:p>
            <a:r>
              <a:rPr lang="de-DE" dirty="0"/>
              <a:t>WIFI für Payload  und für Konfiguration</a:t>
            </a:r>
          </a:p>
          <a:p>
            <a:r>
              <a:rPr lang="de-DE" dirty="0"/>
              <a:t>Konfiguration im Flash</a:t>
            </a:r>
          </a:p>
          <a:p>
            <a:r>
              <a:rPr lang="de-DE" dirty="0"/>
              <a:t>Google </a:t>
            </a:r>
            <a:r>
              <a:rPr lang="de-DE" dirty="0" err="1"/>
              <a:t>Calendar</a:t>
            </a:r>
            <a:r>
              <a:rPr lang="de-DE" dirty="0"/>
              <a:t> API</a:t>
            </a:r>
          </a:p>
          <a:p>
            <a:r>
              <a:rPr lang="de-DE" dirty="0" err="1"/>
              <a:t>Mosquitto</a:t>
            </a:r>
            <a:r>
              <a:rPr lang="de-DE" dirty="0"/>
              <a:t> Broker und Client</a:t>
            </a:r>
          </a:p>
          <a:p>
            <a:r>
              <a:rPr lang="de-DE" dirty="0"/>
              <a:t>Türschilder </a:t>
            </a:r>
            <a:r>
              <a:rPr lang="de-DE" dirty="0" err="1"/>
              <a:t>subscriben</a:t>
            </a:r>
            <a:r>
              <a:rPr lang="de-DE" dirty="0"/>
              <a:t> beim Broker</a:t>
            </a:r>
          </a:p>
          <a:p>
            <a:r>
              <a:rPr lang="de-DE" dirty="0"/>
              <a:t>ESP IDF</a:t>
            </a:r>
          </a:p>
          <a:p>
            <a:r>
              <a:rPr lang="de-DE" dirty="0"/>
              <a:t>Arduino IDE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439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E4E15-2762-BFB8-E013-78E8B091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Ansatz Softwarearchitektur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8C7BF8-9531-B621-3E49-B548E4FB7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Verhalten durch Extended Finite State </a:t>
            </a:r>
            <a:r>
              <a:rPr lang="de-DE" dirty="0" err="1"/>
              <a:t>Machine</a:t>
            </a:r>
            <a:r>
              <a:rPr lang="de-DE" dirty="0"/>
              <a:t> modelliert</a:t>
            </a:r>
          </a:p>
          <a:p>
            <a:r>
              <a:rPr lang="de-DE" dirty="0"/>
              <a:t>Feingranulare Aufteilung von Komponenten</a:t>
            </a:r>
          </a:p>
          <a:p>
            <a:r>
              <a:rPr lang="de-DE" dirty="0"/>
              <a:t>Wenig Überschneidung in Komponenten,  größtenteils klare Grenzen</a:t>
            </a:r>
          </a:p>
          <a:p>
            <a:r>
              <a:rPr lang="de-DE" dirty="0"/>
              <a:t>Kaum gegenseitige Aufrufe, Daten werden weiter gereicht und Kontrollfluss kehrt stattdessen zur FSM zurück</a:t>
            </a:r>
          </a:p>
          <a:p>
            <a:r>
              <a:rPr lang="de-DE" dirty="0">
                <a:ea typeface="+mj-lt"/>
                <a:cs typeface="+mj-lt"/>
              </a:rPr>
              <a:t>Dadurch simplere Einzelkomponenten</a:t>
            </a:r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4809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F17510-4651-BC1B-785B-6A9237B7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Bewertung Softwarearchitektur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42E776-5CE8-C475-74A3-FA4423416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Klar getrennte, kleine Komponenten reduzierten die Komplexität dieser</a:t>
            </a:r>
          </a:p>
          <a:p>
            <a:r>
              <a:rPr lang="de-DE" dirty="0"/>
              <a:t>Zu hohe Granularität erhöhte Komplexität der Höheren Ebene</a:t>
            </a:r>
          </a:p>
        </p:txBody>
      </p:sp>
    </p:spTree>
    <p:extLst>
      <p:ext uri="{BB962C8B-B14F-4D97-AF65-F5344CB8AC3E}">
        <p14:creationId xmlns:p14="http://schemas.microsoft.com/office/powerpoint/2010/main" val="342813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4F74F-2142-FED2-813F-4188FBE0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a typeface="+mj-lt"/>
                <a:cs typeface="+mj-lt"/>
              </a:rPr>
              <a:t>Softwaretools</a:t>
            </a:r>
            <a:endParaRPr lang="de-DE" dirty="0"/>
          </a:p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41880-BC9B-802A-BD1C-8A32D373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ea typeface="+mj-lt"/>
                <a:cs typeface="+mj-lt"/>
              </a:rPr>
              <a:t>ESP IDF</a:t>
            </a:r>
            <a:endParaRPr lang="en-US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SDK für ESP32 von </a:t>
            </a:r>
            <a:r>
              <a:rPr lang="de-DE" dirty="0" err="1">
                <a:ea typeface="+mj-lt"/>
                <a:cs typeface="+mj-lt"/>
              </a:rPr>
              <a:t>Espressiv</a:t>
            </a:r>
            <a:endParaRPr lang="de-DE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Ausführliche Dokumentation</a:t>
            </a:r>
            <a:endParaRPr lang="en-US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Apache Lizenz</a:t>
            </a:r>
            <a:endParaRPr lang="en-US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Schnittstellen für Flashspeicher, </a:t>
            </a:r>
            <a:r>
              <a:rPr lang="de-DE" dirty="0" err="1">
                <a:ea typeface="+mj-lt"/>
                <a:cs typeface="+mj-lt"/>
              </a:rPr>
              <a:t>Tiefschalf</a:t>
            </a:r>
            <a:r>
              <a:rPr lang="de-DE" dirty="0">
                <a:ea typeface="+mj-lt"/>
                <a:cs typeface="+mj-lt"/>
              </a:rPr>
              <a:t>, WIFI, GPIO vorhanden.</a:t>
            </a:r>
            <a:endParaRPr lang="en-US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Bietet MQTT und </a:t>
            </a:r>
            <a:r>
              <a:rPr lang="de-DE" dirty="0" err="1">
                <a:ea typeface="+mj-lt"/>
                <a:cs typeface="+mj-lt"/>
              </a:rPr>
              <a:t>freeRTOS</a:t>
            </a:r>
            <a:r>
              <a:rPr lang="de-DE" dirty="0">
                <a:ea typeface="+mj-lt"/>
                <a:cs typeface="+mj-lt"/>
              </a:rPr>
              <a:t> </a:t>
            </a:r>
            <a:endParaRPr lang="en-US" dirty="0">
              <a:ea typeface="+mj-lt"/>
              <a:cs typeface="+mj-lt"/>
            </a:endParaRPr>
          </a:p>
          <a:p>
            <a:pPr lvl="1"/>
            <a:r>
              <a:rPr lang="de-DE" dirty="0">
                <a:ea typeface="+mj-lt"/>
                <a:cs typeface="+mj-lt"/>
              </a:rPr>
              <a:t>Gutes Zusammenspiel  von Komponenten</a:t>
            </a:r>
          </a:p>
          <a:p>
            <a:pPr lvl="1"/>
            <a:r>
              <a:rPr lang="de-DE" dirty="0"/>
              <a:t>Unterstützt Arduino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5217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115CD-97F1-684B-CAC8-1834B0C6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/>
              <a:t>Lösungsstrategien und Änderungen am Türschild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D90DDA-30D1-5F71-A479-FC5B90467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Arduino IDE</a:t>
            </a:r>
          </a:p>
          <a:p>
            <a:pPr lvl="1"/>
            <a:r>
              <a:rPr lang="de-DE" dirty="0" err="1"/>
              <a:t>ArduinoJson</a:t>
            </a:r>
            <a:r>
              <a:rPr lang="de-DE" dirty="0"/>
              <a:t> Library zur Verarbeitung des </a:t>
            </a:r>
            <a:r>
              <a:rPr lang="de-DE" dirty="0" err="1"/>
              <a:t>JSONObject</a:t>
            </a:r>
            <a:endParaRPr lang="de-DE" dirty="0"/>
          </a:p>
          <a:p>
            <a:pPr lvl="1"/>
            <a:r>
              <a:rPr lang="de-DE" dirty="0" err="1"/>
              <a:t>DynamicJsonDocument</a:t>
            </a:r>
            <a:r>
              <a:rPr lang="de-DE" dirty="0"/>
              <a:t> zur Speicherung der Daten</a:t>
            </a:r>
          </a:p>
          <a:p>
            <a:pPr lvl="2"/>
            <a:r>
              <a:rPr lang="de-DE" dirty="0" err="1"/>
              <a:t>Referenzierung</a:t>
            </a:r>
            <a:r>
              <a:rPr lang="de-DE" dirty="0"/>
              <a:t> über Keys</a:t>
            </a:r>
          </a:p>
          <a:p>
            <a:pPr lvl="1"/>
            <a:r>
              <a:rPr lang="de-DE" dirty="0"/>
              <a:t>Graphen-Library zur Visualisierung</a:t>
            </a:r>
          </a:p>
          <a:p>
            <a:pPr lvl="1"/>
            <a:r>
              <a:rPr lang="de-DE" dirty="0"/>
              <a:t>Displaytreiber von </a:t>
            </a:r>
            <a:r>
              <a:rPr lang="de-DE" dirty="0" err="1"/>
              <a:t>Waveshare</a:t>
            </a:r>
            <a:r>
              <a:rPr lang="de-DE" dirty="0"/>
              <a:t> für den ESP32 mit 7,5 V2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6126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3ED9C-945E-9DD5-2C82-B3C496B1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Zwischenspiel ESP-IDF und Arduino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A8C05-7D22-D775-4A28-BFE49506B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Arduino bietet eine Sammlung von C++ </a:t>
            </a:r>
            <a:r>
              <a:rPr lang="de-DE" dirty="0" err="1"/>
              <a:t>Librarys</a:t>
            </a:r>
            <a:r>
              <a:rPr lang="de-DE" dirty="0"/>
              <a:t> und Laufzeitinitialisierung</a:t>
            </a:r>
          </a:p>
          <a:p>
            <a:r>
              <a:rPr lang="de-DE" dirty="0"/>
              <a:t>C++ und C haben ein sehr einfaches Interface zueinander, und können sich leicht gegenseitig aufrufen</a:t>
            </a:r>
          </a:p>
          <a:p>
            <a:r>
              <a:rPr lang="de-DE" dirty="0"/>
              <a:t>Laufzeitinitialisierung beschränkt sich auf einen Funktionsaufruf, in der "</a:t>
            </a:r>
            <a:r>
              <a:rPr lang="de-DE" dirty="0" err="1"/>
              <a:t>main</a:t>
            </a:r>
            <a:r>
              <a:rPr lang="de-DE" dirty="0"/>
              <a:t>"-Funktion</a:t>
            </a:r>
          </a:p>
          <a:p>
            <a:r>
              <a:rPr lang="de-DE" dirty="0"/>
              <a:t>Stichwort "</a:t>
            </a:r>
            <a:r>
              <a:rPr lang="de-DE" dirty="0" err="1"/>
              <a:t>Ardunino</a:t>
            </a:r>
            <a:r>
              <a:rPr lang="de-DE" dirty="0"/>
              <a:t> 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8164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115CD-97F1-684B-CAC8-1834B0C6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 err="1"/>
              <a:t>Lessons</a:t>
            </a:r>
            <a:r>
              <a:rPr lang="de-DE" sz="4400" dirty="0"/>
              <a:t> </a:t>
            </a:r>
            <a:r>
              <a:rPr lang="de-DE" sz="4400" dirty="0" err="1"/>
              <a:t>learned</a:t>
            </a:r>
            <a:r>
              <a:rPr lang="de-DE" sz="4400" dirty="0"/>
              <a:t> 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D90DDA-30D1-5F71-A479-FC5B90467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de-DE" dirty="0"/>
              <a:t>Was alle gelernt haben:</a:t>
            </a:r>
          </a:p>
          <a:p>
            <a:r>
              <a:rPr lang="de-DE" dirty="0"/>
              <a:t>Gelernte Projektplanungsphasen angewendet</a:t>
            </a:r>
          </a:p>
          <a:p>
            <a:r>
              <a:rPr lang="de-DE" dirty="0"/>
              <a:t>Arbeiten mit dem Miro-Board</a:t>
            </a:r>
          </a:p>
          <a:p>
            <a:r>
              <a:rPr lang="de-DE" dirty="0"/>
              <a:t>Projektplanung mit </a:t>
            </a:r>
            <a:r>
              <a:rPr lang="de-DE" dirty="0" err="1"/>
              <a:t>Consens</a:t>
            </a:r>
            <a:endParaRPr lang="de-DE" dirty="0"/>
          </a:p>
          <a:p>
            <a:r>
              <a:rPr lang="de-DE" dirty="0"/>
              <a:t>Projektmanagement mit Kanban</a:t>
            </a:r>
          </a:p>
          <a:p>
            <a:r>
              <a:rPr lang="de-DE" dirty="0"/>
              <a:t>Patrick Schmidt:</a:t>
            </a:r>
          </a:p>
          <a:p>
            <a:pPr lvl="1"/>
            <a:r>
              <a:rPr lang="de-DE" dirty="0"/>
              <a:t>Organisation über Kanban</a:t>
            </a:r>
          </a:p>
          <a:p>
            <a:pPr lvl="1"/>
            <a:r>
              <a:rPr lang="de-DE" dirty="0"/>
              <a:t>Nutzung von fremder API im eigenen Projekt</a:t>
            </a:r>
          </a:p>
          <a:p>
            <a:pPr lvl="1"/>
            <a:r>
              <a:rPr lang="de-DE" dirty="0"/>
              <a:t>Projektplanung hat das ganze strukturiert und man konnte seine Ziele leichter verfolgen</a:t>
            </a:r>
          </a:p>
          <a:p>
            <a:r>
              <a:rPr lang="de-DE" dirty="0"/>
              <a:t>Mark Koch:</a:t>
            </a:r>
          </a:p>
          <a:p>
            <a:pPr lvl="1"/>
            <a:r>
              <a:rPr lang="de-DE" dirty="0"/>
              <a:t>Voller Arbeitsumfang durch Arbeitspakete im Pflichtenheft sollte abgedeckt sein</a:t>
            </a:r>
          </a:p>
          <a:p>
            <a:pPr lvl="1"/>
            <a:r>
              <a:rPr lang="de-DE" dirty="0"/>
              <a:t>Sinnvolle Reihenfolge der Pakete:</a:t>
            </a:r>
          </a:p>
          <a:p>
            <a:pPr lvl="2"/>
            <a:r>
              <a:rPr lang="de-DE" dirty="0"/>
              <a:t>Abhängigkeiten beachten</a:t>
            </a:r>
          </a:p>
          <a:p>
            <a:pPr lvl="2"/>
            <a:r>
              <a:rPr lang="de-DE" dirty="0"/>
              <a:t>Bei kritischen Paketen früh Verständnis erarbeiten, auch wenn es noch nicht entwickelt werden kann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3913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115CD-97F1-684B-CAC8-1834B0C6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400" dirty="0" err="1"/>
              <a:t>Lessons</a:t>
            </a:r>
            <a:r>
              <a:rPr lang="de-DE" sz="4400" dirty="0"/>
              <a:t> </a:t>
            </a:r>
            <a:r>
              <a:rPr lang="de-DE" sz="4400" dirty="0" err="1"/>
              <a:t>learned</a:t>
            </a:r>
            <a:r>
              <a:rPr lang="de-DE" sz="4400" dirty="0"/>
              <a:t> 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D90DDA-30D1-5F71-A479-FC5B90467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Michael Kremser:</a:t>
            </a:r>
          </a:p>
          <a:p>
            <a:pPr lvl="1"/>
            <a:r>
              <a:rPr lang="de-DE" dirty="0"/>
              <a:t>Hardware und Software Schnittstellen verstehen</a:t>
            </a:r>
          </a:p>
          <a:p>
            <a:pPr lvl="1"/>
            <a:r>
              <a:rPr lang="de-DE" dirty="0"/>
              <a:t>Arduino IDE</a:t>
            </a:r>
          </a:p>
          <a:p>
            <a:pPr lvl="2"/>
            <a:r>
              <a:rPr lang="de-DE" dirty="0"/>
              <a:t>Add-on Board-Manager URL verwalten</a:t>
            </a:r>
          </a:p>
          <a:p>
            <a:pPr lvl="2"/>
            <a:r>
              <a:rPr lang="de-DE" dirty="0"/>
              <a:t>Effektives Nutzen von Libraries statt selbst coden:</a:t>
            </a:r>
          </a:p>
          <a:p>
            <a:pPr lvl="3"/>
            <a:r>
              <a:rPr lang="de-DE" dirty="0" err="1"/>
              <a:t>ArduinoJSON</a:t>
            </a:r>
            <a:endParaRPr lang="de-DE" dirty="0"/>
          </a:p>
          <a:p>
            <a:pPr lvl="3"/>
            <a:r>
              <a:rPr lang="de-DE" dirty="0" err="1"/>
              <a:t>GraphenLibrary</a:t>
            </a:r>
            <a:endParaRPr lang="de-DE" dirty="0"/>
          </a:p>
          <a:p>
            <a:pPr lvl="1"/>
            <a:r>
              <a:rPr lang="de-DE" dirty="0"/>
              <a:t>MQTT anwenden</a:t>
            </a:r>
          </a:p>
          <a:p>
            <a:pPr lvl="1"/>
            <a:r>
              <a:rPr lang="de-DE" dirty="0"/>
              <a:t>Mit Docker arbeiten</a:t>
            </a:r>
          </a:p>
          <a:p>
            <a:pPr lvl="1"/>
            <a:r>
              <a:rPr lang="de-DE" dirty="0"/>
              <a:t>Tieferes Verständnis von </a:t>
            </a:r>
            <a:r>
              <a:rPr lang="de-DE" dirty="0" err="1"/>
              <a:t>Git</a:t>
            </a:r>
            <a:r>
              <a:rPr lang="de-DE" dirty="0"/>
              <a:t> und </a:t>
            </a:r>
            <a:r>
              <a:rPr lang="de-DE" dirty="0" err="1"/>
              <a:t>Github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5420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949</Words>
  <Application>Microsoft Office PowerPoint</Application>
  <PresentationFormat>Breitbild</PresentationFormat>
  <Paragraphs>167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8" baseType="lpstr">
      <vt:lpstr>Arial</vt:lpstr>
      <vt:lpstr>Century Gothic</vt:lpstr>
      <vt:lpstr>Wingdings 3</vt:lpstr>
      <vt:lpstr>Ion</vt:lpstr>
      <vt:lpstr>IoTürschilder</vt:lpstr>
      <vt:lpstr>Inhaltverzeichnis</vt:lpstr>
      <vt:lpstr>Plan</vt:lpstr>
      <vt:lpstr>Plan</vt:lpstr>
      <vt:lpstr>Plan</vt:lpstr>
      <vt:lpstr>Zeitplanung</vt:lpstr>
      <vt:lpstr>Ergebnis</vt:lpstr>
      <vt:lpstr>Ergebnis</vt:lpstr>
      <vt:lpstr>Ergebnis</vt:lpstr>
      <vt:lpstr>Was ist noch offen?</vt:lpstr>
      <vt:lpstr>Gegenüberstellung</vt:lpstr>
      <vt:lpstr>Herangehensweise/Umsetzung</vt:lpstr>
      <vt:lpstr>Herangehensweise und Umsetzung des serverseitigen Backends </vt:lpstr>
      <vt:lpstr>Systemarchitektur des serverseitigen Backends</vt:lpstr>
      <vt:lpstr>Lösungsstrategien und Änderungen am Prozess des Backends</vt:lpstr>
      <vt:lpstr>Herangehensweise und Umsetzung des Türschildes Hardware</vt:lpstr>
      <vt:lpstr>Herangehensweise und Umsetzung des Türschildes Software</vt:lpstr>
      <vt:lpstr>Ansatz Softwarearchitektur</vt:lpstr>
      <vt:lpstr>Bewertung Softwarearchitektur</vt:lpstr>
      <vt:lpstr>Softwaretools </vt:lpstr>
      <vt:lpstr>Lösungsstrategien und Änderungen am Türschild</vt:lpstr>
      <vt:lpstr>Zwischenspiel ESP-IDF und Arduino</vt:lpstr>
      <vt:lpstr>Lessons learned </vt:lpstr>
      <vt:lpstr>Lessons learned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IoTuerschilder</dc:title>
  <dc:creator>Michael Kremser</dc:creator>
  <cp:lastModifiedBy>Patrick Schmidt</cp:lastModifiedBy>
  <cp:revision>361</cp:revision>
  <dcterms:created xsi:type="dcterms:W3CDTF">2022-04-27T15:37:12Z</dcterms:created>
  <dcterms:modified xsi:type="dcterms:W3CDTF">2022-07-08T14:47:34Z</dcterms:modified>
</cp:coreProperties>
</file>